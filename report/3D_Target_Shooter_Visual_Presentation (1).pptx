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report/report.tex; 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report/report-sections.tex, Sections 1–2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report/report-sections.tex, Section 2.2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docs/images/release-level-1.png through release-level-7.png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objects/weapon-pistol/; report/report-sections.tex, Section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objects/cargo-crate/; report/report-sections.tex, Section 3.4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objects/weapon-pistol/; report/report-sections.tex, Section 3.5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objects/weapon-shotgun/; objects/weapon-rifle/; report/report-sections.tex, Section 3.6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objects/target/; report/report-sections.tex, Section 3.7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objects/human/; objects/bird/; report/report-sections.tex, Section 4.2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report/report-sections.tex, Section 7; lighting/day-2-mask-15.png; lighting/night-2-mask-15.png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report/report-sections.tex, Sections 7.1–7.2; lighting/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report/report-sections.tex, Section 7.3; lighting/night-*-mask-15.png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report/report-sections.tex, Section 7.3; lighting/night-*-mask-15-close.png; shaders/lighting.glsl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sources: report/report-sections.tex, Conclusion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411480"/>
            <a:ext cx="73152" cy="457200"/>
          </a:xfrm>
          <a:prstGeom prst="rect">
            <a:avLst/>
          </a:prstGeom>
          <a:solidFill>
            <a:srgbClr val="147D92"/>
          </a:solidFill>
          <a:ln w="12700">
            <a:solidFill>
              <a:srgbClr val="147D9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10896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COMPUTER GRAPHICS PROJECT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Target Shooter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6428232"/>
            <a:ext cx="10881360" cy="10973"/>
          </a:xfrm>
          <a:prstGeom prst="rect">
            <a:avLst/>
          </a:prstGeom>
          <a:solidFill>
            <a:srgbClr val="DCE5EF"/>
          </a:solidFill>
          <a:ln w="12700">
            <a:solidFill>
              <a:srgbClr val="DCE5E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TARGET SHOOTER  /  CSE 4102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98480" y="64922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16</a:t>
            </a:r>
            <a:endParaRPr lang="en-US" sz="1000" dirty="0"/>
          </a:p>
        </p:txBody>
      </p:sp>
      <p:pic>
        <p:nvPicPr>
          <p:cNvPr id="9" name="Image 0" descr="C:\Users\USER\OneDrive\My Codes\GitHub\Graphics-Project\docs\images\release-are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760" y="1417320"/>
            <a:ext cx="6876288" cy="42976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" y="5943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Kazi Rifat Al Muin  •  2107042  •  CSE 4102  •  KUET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411480"/>
            <a:ext cx="73152" cy="457200"/>
          </a:xfrm>
          <a:prstGeom prst="rect">
            <a:avLst/>
          </a:prstGeom>
          <a:solidFill>
            <a:srgbClr val="147D92"/>
          </a:solidFill>
          <a:ln w="12700">
            <a:solidFill>
              <a:srgbClr val="147D9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10896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completed project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6428232"/>
            <a:ext cx="10881360" cy="10973"/>
          </a:xfrm>
          <a:prstGeom prst="rect">
            <a:avLst/>
          </a:prstGeom>
          <a:solidFill>
            <a:srgbClr val="DCE5EF"/>
          </a:solidFill>
          <a:ln w="12700">
            <a:solidFill>
              <a:srgbClr val="DCE5E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TARGET SHOOTER  /  CSE 4102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98480" y="64922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16</a:t>
            </a:r>
            <a:endParaRPr lang="en-US" sz="1000" dirty="0"/>
          </a:p>
        </p:txBody>
      </p:sp>
      <p:pic>
        <p:nvPicPr>
          <p:cNvPr id="9" name="Image 0" descr="C:\Users\USER\OneDrive\My Codes\GitHub\Graphics-Project\docs\images\release-pist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852231"/>
            <a:ext cx="5294376" cy="330898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" y="5550408"/>
            <a:ext cx="5294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Player view — aiming, targets and HUD</a:t>
            </a:r>
            <a:endParaRPr lang="en-US" sz="1200" dirty="0"/>
          </a:p>
        </p:txBody>
      </p:sp>
      <p:pic>
        <p:nvPicPr>
          <p:cNvPr id="11" name="Image 1" descr="C:\Users\USER\OneDrive\My Codes\GitHub\Graphics-Project\docs\images\release-aren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488" y="1852231"/>
            <a:ext cx="5294376" cy="330898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90488" y="5550408"/>
            <a:ext cx="5294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Arena view — walls, cover and firing lanes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94944" y="5943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Cube-based modelling • transformations • animation • lighting • interaction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411480"/>
            <a:ext cx="73152" cy="457200"/>
          </a:xfrm>
          <a:prstGeom prst="rect">
            <a:avLst/>
          </a:prstGeom>
          <a:solidFill>
            <a:srgbClr val="147D92"/>
          </a:solidFill>
          <a:ln w="12700">
            <a:solidFill>
              <a:srgbClr val="147D9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10896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GAMEPLAY AND LEVEL DESIGN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seven Challenge levels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6428232"/>
            <a:ext cx="10881360" cy="10973"/>
          </a:xfrm>
          <a:prstGeom prst="rect">
            <a:avLst/>
          </a:prstGeom>
          <a:solidFill>
            <a:srgbClr val="DCE5EF"/>
          </a:solidFill>
          <a:ln w="12700">
            <a:solidFill>
              <a:srgbClr val="DCE5E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TARGET SHOOTER  /  CSE 4102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98480" y="64922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16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" y="1600200"/>
          <a:ext cx="107899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097280"/>
                <a:gridCol w="1188720"/>
                <a:gridCol w="4983480"/>
                <a:gridCol w="2697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Level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D9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D9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Walking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D9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Motion / cover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D9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NPCs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D9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Locked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Stationary targets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None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Locked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Centre target moves horizontally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None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Locked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Separate X, Y and Z motion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None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Enabled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Cargo cover, longer range and rotation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None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Enabled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Compound target trajectories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 birds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Enabled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Faster three-axis trajectories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 birds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Enabled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Final pair: faster motion and spin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48 birds; 36 humans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1600" marR="101600" marT="101600" marB="1016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694944" y="5943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 targets across seven levels; movement unlocks from Level 4.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411480"/>
            <a:ext cx="73152" cy="457200"/>
          </a:xfrm>
          <a:prstGeom prst="rect">
            <a:avLst/>
          </a:prstGeom>
          <a:solidFill>
            <a:srgbClr val="147D92"/>
          </a:solidFill>
          <a:ln w="12700">
            <a:solidFill>
              <a:srgbClr val="147D9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10896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GAMEPLAY AND LEVEL DESIGN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Seven levels in pictures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6428232"/>
            <a:ext cx="10881360" cy="10973"/>
          </a:xfrm>
          <a:prstGeom prst="rect">
            <a:avLst/>
          </a:prstGeom>
          <a:solidFill>
            <a:srgbClr val="DCE5EF"/>
          </a:solidFill>
          <a:ln w="12700">
            <a:solidFill>
              <a:srgbClr val="DCE5E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TARGET SHOOTER  /  CSE 4102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98480" y="64922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16</a:t>
            </a:r>
            <a:endParaRPr lang="en-US" sz="1000" dirty="0"/>
          </a:p>
        </p:txBody>
      </p:sp>
      <p:pic>
        <p:nvPicPr>
          <p:cNvPr id="9" name="Image 0" descr="C:\Users\USER\OneDrive\My Codes\GitHub\Graphics-Project\docs\images\release-level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677638"/>
            <a:ext cx="2546604" cy="15916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" y="3511296"/>
            <a:ext cx="25466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Stationary</a:t>
            </a:r>
            <a:endParaRPr lang="en-US" sz="1200" dirty="0"/>
          </a:p>
        </p:txBody>
      </p:sp>
      <p:pic>
        <p:nvPicPr>
          <p:cNvPr id="11" name="Image 1" descr="C:\Users\USER\OneDrive\My Codes\GitHub\Graphics-Project\docs\images\release-level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716" y="1677638"/>
            <a:ext cx="2546604" cy="159162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442716" y="3511296"/>
            <a:ext cx="25466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Horizontal motion</a:t>
            </a:r>
            <a:endParaRPr lang="en-US" sz="1200" dirty="0"/>
          </a:p>
        </p:txBody>
      </p:sp>
      <p:pic>
        <p:nvPicPr>
          <p:cNvPr id="13" name="Image 2" descr="C:\Users\USER\OneDrive\My Codes\GitHub\Graphics-Project\docs\images\release-level-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1677638"/>
            <a:ext cx="2546604" cy="159162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90488" y="3511296"/>
            <a:ext cx="25466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Separate motion axes</a:t>
            </a:r>
            <a:endParaRPr lang="en-US" sz="1200" dirty="0"/>
          </a:p>
        </p:txBody>
      </p:sp>
      <p:pic>
        <p:nvPicPr>
          <p:cNvPr id="15" name="Image 3" descr="C:\Users\USER\OneDrive\My Codes\GitHub\Graphics-Project\docs\images\release-level-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8260" y="1677638"/>
            <a:ext cx="2546604" cy="159162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938260" y="3511296"/>
            <a:ext cx="25466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 Cover + rotation</a:t>
            </a:r>
            <a:endParaRPr lang="en-US" sz="1200" dirty="0"/>
          </a:p>
        </p:txBody>
      </p:sp>
      <p:pic>
        <p:nvPicPr>
          <p:cNvPr id="17" name="Image 4" descr="C:\Users\USER\OneDrive\My Codes\GitHub\Graphics-Project\docs\images\release-level-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4009358"/>
            <a:ext cx="2546604" cy="159162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694944" y="5843016"/>
            <a:ext cx="25466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 Compound motion + birds</a:t>
            </a:r>
            <a:endParaRPr lang="en-US" sz="1200" dirty="0"/>
          </a:p>
        </p:txBody>
      </p:sp>
      <p:pic>
        <p:nvPicPr>
          <p:cNvPr id="19" name="Image 5" descr="C:\Users\USER\OneDrive\My Codes\GitHub\Graphics-Project\docs\images\release-level-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2716" y="4009358"/>
            <a:ext cx="2546604" cy="1591628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3442716" y="5843016"/>
            <a:ext cx="25466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 Faster motion</a:t>
            </a:r>
            <a:endParaRPr lang="en-US" sz="1200" dirty="0"/>
          </a:p>
        </p:txBody>
      </p:sp>
      <p:pic>
        <p:nvPicPr>
          <p:cNvPr id="21" name="Image 6" descr="C:\Users\USER\OneDrive\My Codes\GitHub\Graphics-Project\docs\images\release-level-7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0488" y="4009358"/>
            <a:ext cx="2546604" cy="1591628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6190488" y="5843016"/>
            <a:ext cx="25466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 Birds + humans</a:t>
            </a:r>
            <a:endParaRPr lang="en-US" sz="1200" dirty="0"/>
          </a:p>
        </p:txBody>
      </p:sp>
      <p:pic>
        <p:nvPicPr>
          <p:cNvPr id="23" name="Image 7" descr="C:\Users\USER\OneDrive\My Codes\GitHub\Graphics-Project\docs\images\release-level-7-result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38260" y="4009358"/>
            <a:ext cx="2546604" cy="1591628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8938260" y="5843016"/>
            <a:ext cx="25466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Final-level results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411480"/>
            <a:ext cx="73152" cy="457200"/>
          </a:xfrm>
          <a:prstGeom prst="rect">
            <a:avLst/>
          </a:prstGeom>
          <a:solidFill>
            <a:srgbClr val="147D92"/>
          </a:solidFill>
          <a:ln w="12700">
            <a:solidFill>
              <a:srgbClr val="147D9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10896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 CONSTRUCTION AND TRANSFORMATIONS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Construction: cube to finished object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6428232"/>
            <a:ext cx="10881360" cy="10973"/>
          </a:xfrm>
          <a:prstGeom prst="rect">
            <a:avLst/>
          </a:prstGeom>
          <a:solidFill>
            <a:srgbClr val="DCE5EF"/>
          </a:solidFill>
          <a:ln w="12700">
            <a:solidFill>
              <a:srgbClr val="DCE5E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TARGET SHOOTER  /  CSE 4102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98480" y="64922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16</a:t>
            </a:r>
            <a:endParaRPr lang="en-US" sz="1000" dirty="0"/>
          </a:p>
        </p:txBody>
      </p:sp>
      <p:pic>
        <p:nvPicPr>
          <p:cNvPr id="9" name="Image 0" descr="C:\Users\USER\OneDrive\My Codes\GitHub\Graphics-Project\objects\weapon-pistol\part-0-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2368868"/>
            <a:ext cx="2546604" cy="190995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" y="5047488"/>
            <a:ext cx="25466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cube</a:t>
            </a:r>
            <a:endParaRPr lang="en-US" sz="1200" dirty="0"/>
          </a:p>
        </p:txBody>
      </p:sp>
      <p:pic>
        <p:nvPicPr>
          <p:cNvPr id="11" name="Image 1" descr="C:\Users\USER\OneDrive\My Codes\GitHub\Graphics-Project\objects\weapon-pistol\part-0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716" y="2368868"/>
            <a:ext cx="2546604" cy="190995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442716" y="5047488"/>
            <a:ext cx="25466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Scaled component</a:t>
            </a:r>
            <a:endParaRPr lang="en-US" sz="1200" dirty="0"/>
          </a:p>
        </p:txBody>
      </p:sp>
      <p:pic>
        <p:nvPicPr>
          <p:cNvPr id="13" name="Image 2" descr="C:\Users\USER\OneDrive\My Codes\GitHub\Graphics-Project\objects\weapon-pistol\part-0-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2368868"/>
            <a:ext cx="2546604" cy="190995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90488" y="5047488"/>
            <a:ext cx="25466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Placed component</a:t>
            </a:r>
            <a:endParaRPr lang="en-US" sz="1200" dirty="0"/>
          </a:p>
        </p:txBody>
      </p:sp>
      <p:pic>
        <p:nvPicPr>
          <p:cNvPr id="15" name="Image 3" descr="C:\Users\USER\OneDrive\My Codes\GitHub\Graphics-Project\objects\weapon-pistol\comple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8260" y="2368868"/>
            <a:ext cx="2546604" cy="190995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938260" y="5047488"/>
            <a:ext cx="25466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pistol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3566160" y="5559552"/>
            <a:ext cx="5029200" cy="557784"/>
          </a:xfrm>
          <a:prstGeom prst="rect">
            <a:avLst/>
          </a:prstGeom>
          <a:solidFill>
            <a:srgbClr val="E8F2F5"/>
          </a:solidFill>
          <a:ln w="12700">
            <a:solidFill>
              <a:srgbClr val="E8F2F5">
                <a:alpha val="0"/>
              </a:srgbClr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3712464" y="5641848"/>
            <a:ext cx="4736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47D9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 = T Rz Ry Rx H S</a:t>
            </a:r>
            <a:endParaRPr lang="en-US" sz="2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411480"/>
            <a:ext cx="73152" cy="457200"/>
          </a:xfrm>
          <a:prstGeom prst="rect">
            <a:avLst/>
          </a:prstGeom>
          <a:solidFill>
            <a:srgbClr val="147D92"/>
          </a:solidFill>
          <a:ln w="12700">
            <a:solidFill>
              <a:srgbClr val="147D9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10896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 CONSTRUCTION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Cargo crate: complete assembly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6428232"/>
            <a:ext cx="10881360" cy="10973"/>
          </a:xfrm>
          <a:prstGeom prst="rect">
            <a:avLst/>
          </a:prstGeom>
          <a:solidFill>
            <a:srgbClr val="DCE5EF"/>
          </a:solidFill>
          <a:ln w="12700">
            <a:solidFill>
              <a:srgbClr val="DCE5E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TARGET SHOOTER  /  CSE 4102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98480" y="64922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16</a:t>
            </a:r>
            <a:endParaRPr lang="en-US" sz="1000" dirty="0"/>
          </a:p>
        </p:txBody>
      </p:sp>
      <p:pic>
        <p:nvPicPr>
          <p:cNvPr id="9" name="Image 0" descr="C:\Users\USER\OneDrive\My Codes\GitHub\Graphics-Project\objects\cargo-crate\assembly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2547175"/>
            <a:ext cx="2546604" cy="190995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" y="5431536"/>
            <a:ext cx="25466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Assembly after 1 parts</a:t>
            </a:r>
            <a:endParaRPr lang="en-US" sz="1200" dirty="0"/>
          </a:p>
        </p:txBody>
      </p:sp>
      <p:pic>
        <p:nvPicPr>
          <p:cNvPr id="11" name="Image 1" descr="C:\Users\USER\OneDrive\My Codes\GitHub\Graphics-Project\objects\cargo-crate\assembly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716" y="2547175"/>
            <a:ext cx="2546604" cy="190995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442716" y="5431536"/>
            <a:ext cx="25466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Assembly after 2 parts</a:t>
            </a:r>
            <a:endParaRPr lang="en-US" sz="1200" dirty="0"/>
          </a:p>
        </p:txBody>
      </p:sp>
      <p:pic>
        <p:nvPicPr>
          <p:cNvPr id="13" name="Image 2" descr="C:\Users\USER\OneDrive\My Codes\GitHub\Graphics-Project\objects\cargo-crate\assembly-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2547175"/>
            <a:ext cx="2546604" cy="190995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90488" y="5431536"/>
            <a:ext cx="25466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Assembly after 3 parts</a:t>
            </a:r>
            <a:endParaRPr lang="en-US" sz="1200" dirty="0"/>
          </a:p>
        </p:txBody>
      </p:sp>
      <p:pic>
        <p:nvPicPr>
          <p:cNvPr id="15" name="Image 3" descr="C:\Users\USER\OneDrive\My Codes\GitHub\Graphics-Project\objects\cargo-crate\assembly-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8260" y="2547175"/>
            <a:ext cx="2546604" cy="190995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938260" y="5431536"/>
            <a:ext cx="25466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Assembly after 4 parts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694944" y="5943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transformed cubes form the full crate.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411480"/>
            <a:ext cx="73152" cy="457200"/>
          </a:xfrm>
          <a:prstGeom prst="rect">
            <a:avLst/>
          </a:prstGeom>
          <a:solidFill>
            <a:srgbClr val="147D92"/>
          </a:solidFill>
          <a:ln w="12700">
            <a:solidFill>
              <a:srgbClr val="147D9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10896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 CONSTRUCTION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Pistol: from first part to complete model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6428232"/>
            <a:ext cx="10881360" cy="10973"/>
          </a:xfrm>
          <a:prstGeom prst="rect">
            <a:avLst/>
          </a:prstGeom>
          <a:solidFill>
            <a:srgbClr val="DCE5EF"/>
          </a:solidFill>
          <a:ln w="12700">
            <a:solidFill>
              <a:srgbClr val="DCE5E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TARGET SHOOTER  /  CSE 4102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98480" y="64922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16</a:t>
            </a:r>
            <a:endParaRPr lang="en-US" sz="1000" dirty="0"/>
          </a:p>
        </p:txBody>
      </p:sp>
      <p:pic>
        <p:nvPicPr>
          <p:cNvPr id="9" name="Image 0" descr="C:\Users\USER\OneDrive\My Codes\GitHub\Graphics-Project\objects\weapon-pistol\assembly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9096" y="1508760"/>
            <a:ext cx="2554224" cy="19156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" y="351586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Assembly after 1 parts</a:t>
            </a:r>
            <a:endParaRPr lang="en-US" sz="1200" dirty="0"/>
          </a:p>
        </p:txBody>
      </p:sp>
      <p:pic>
        <p:nvPicPr>
          <p:cNvPr id="11" name="Image 1" descr="C:\Users\USER\OneDrive\My Codes\GitHub\Graphics-Project\objects\weapon-pistol\assembly-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792" y="1508760"/>
            <a:ext cx="2554224" cy="19156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358640" y="351586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Assembly after 3 parts</a:t>
            </a:r>
            <a:endParaRPr lang="en-US" sz="1200" dirty="0"/>
          </a:p>
        </p:txBody>
      </p:sp>
      <p:pic>
        <p:nvPicPr>
          <p:cNvPr id="13" name="Image 2" descr="C:\Users\USER\OneDrive\My Codes\GitHub\Graphics-Project\objects\weapon-pistol\assembly-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1508760"/>
            <a:ext cx="2554224" cy="19156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22336" y="351586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Assembly after 5 parts</a:t>
            </a:r>
            <a:endParaRPr lang="en-US" sz="1200" dirty="0"/>
          </a:p>
        </p:txBody>
      </p:sp>
      <p:pic>
        <p:nvPicPr>
          <p:cNvPr id="15" name="Image 3" descr="C:\Users\USER\OneDrive\My Codes\GitHub\Graphics-Project\objects\weapon-pistol\assembly-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9096" y="3863340"/>
            <a:ext cx="2554224" cy="19156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4944" y="587044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Assembly after 7 parts</a:t>
            </a:r>
            <a:endParaRPr lang="en-US" sz="1200" dirty="0"/>
          </a:p>
        </p:txBody>
      </p:sp>
      <p:pic>
        <p:nvPicPr>
          <p:cNvPr id="17" name="Image 4" descr="C:\Users\USER\OneDrive\My Codes\GitHub\Graphics-Project\objects\weapon-pistol\assembly-9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2792" y="3863340"/>
            <a:ext cx="2554224" cy="191566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358640" y="587044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Assembly after 9 parts</a:t>
            </a:r>
            <a:endParaRPr lang="en-US" sz="1200" dirty="0"/>
          </a:p>
        </p:txBody>
      </p:sp>
      <p:pic>
        <p:nvPicPr>
          <p:cNvPr id="19" name="Image 5" descr="C:\Users\USER\OneDrive\My Codes\GitHub\Graphics-Project\objects\weapon-pistol\assembly-1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6488" y="3863340"/>
            <a:ext cx="2554224" cy="1915668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8022336" y="587044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parts — complete pistol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411480"/>
            <a:ext cx="73152" cy="457200"/>
          </a:xfrm>
          <a:prstGeom prst="rect">
            <a:avLst/>
          </a:prstGeom>
          <a:solidFill>
            <a:srgbClr val="147D92"/>
          </a:solidFill>
          <a:ln w="12700">
            <a:solidFill>
              <a:srgbClr val="147D9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10896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 CONSTRUCTION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Shotgun and rifle: complete assemblies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6428232"/>
            <a:ext cx="10881360" cy="10973"/>
          </a:xfrm>
          <a:prstGeom prst="rect">
            <a:avLst/>
          </a:prstGeom>
          <a:solidFill>
            <a:srgbClr val="DCE5EF"/>
          </a:solidFill>
          <a:ln w="12700">
            <a:solidFill>
              <a:srgbClr val="DCE5E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TARGET SHOOTER  /  CSE 4102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98480" y="64922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16</a:t>
            </a:r>
            <a:endParaRPr lang="en-US" sz="1000" dirty="0"/>
          </a:p>
        </p:txBody>
      </p:sp>
      <p:pic>
        <p:nvPicPr>
          <p:cNvPr id="9" name="Image 0" descr="C:\Users\USER\OneDrive\My Codes\GitHub\Graphics-Project\objects\weapon-shotgun\assembly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9096" y="1508760"/>
            <a:ext cx="2554224" cy="19156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" y="351586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Shotgun • first part</a:t>
            </a:r>
            <a:endParaRPr lang="en-US" sz="1200" dirty="0"/>
          </a:p>
        </p:txBody>
      </p:sp>
      <p:pic>
        <p:nvPicPr>
          <p:cNvPr id="11" name="Image 1" descr="C:\Users\USER\OneDrive\My Codes\GitHub\Graphics-Project\objects\weapon-shotgun\assembly-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792" y="1508760"/>
            <a:ext cx="2554224" cy="19156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358640" y="351586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Shotgun • 7 parts</a:t>
            </a:r>
            <a:endParaRPr lang="en-US" sz="1200" dirty="0"/>
          </a:p>
        </p:txBody>
      </p:sp>
      <p:pic>
        <p:nvPicPr>
          <p:cNvPr id="13" name="Image 2" descr="C:\Users\USER\OneDrive\My Codes\GitHub\Graphics-Project\objects\weapon-shotgun\assembly-1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1508760"/>
            <a:ext cx="2554224" cy="19156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22336" y="351586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Shotgun • complete, 14 parts</a:t>
            </a:r>
            <a:endParaRPr lang="en-US" sz="1200" dirty="0"/>
          </a:p>
        </p:txBody>
      </p:sp>
      <p:pic>
        <p:nvPicPr>
          <p:cNvPr id="15" name="Image 3" descr="C:\Users\USER\OneDrive\My Codes\GitHub\Graphics-Project\objects\weapon-rifle\assembly-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9096" y="3863340"/>
            <a:ext cx="2554224" cy="19156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4944" y="587044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Rifle • first part</a:t>
            </a:r>
            <a:endParaRPr lang="en-US" sz="1200" dirty="0"/>
          </a:p>
        </p:txBody>
      </p:sp>
      <p:pic>
        <p:nvPicPr>
          <p:cNvPr id="17" name="Image 4" descr="C:\Users\USER\OneDrive\My Codes\GitHub\Graphics-Project\objects\weapon-rifle\assembly-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2792" y="3863340"/>
            <a:ext cx="2554224" cy="191566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358640" y="587044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Rifle • 8 parts</a:t>
            </a:r>
            <a:endParaRPr lang="en-US" sz="1200" dirty="0"/>
          </a:p>
        </p:txBody>
      </p:sp>
      <p:pic>
        <p:nvPicPr>
          <p:cNvPr id="19" name="Image 5" descr="C:\Users\USER\OneDrive\My Codes\GitHub\Graphics-Project\objects\weapon-rifle\assembly-1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6488" y="3863340"/>
            <a:ext cx="2554224" cy="1915668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8022336" y="587044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Rifle • complete, 15 parts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411480"/>
            <a:ext cx="73152" cy="457200"/>
          </a:xfrm>
          <a:prstGeom prst="rect">
            <a:avLst/>
          </a:prstGeom>
          <a:solidFill>
            <a:srgbClr val="147D92"/>
          </a:solidFill>
          <a:ln w="12700">
            <a:solidFill>
              <a:srgbClr val="147D9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10896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 CONSTRUCTION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stand, slices and scoring rings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6428232"/>
            <a:ext cx="10881360" cy="10973"/>
          </a:xfrm>
          <a:prstGeom prst="rect">
            <a:avLst/>
          </a:prstGeom>
          <a:solidFill>
            <a:srgbClr val="DCE5EF"/>
          </a:solidFill>
          <a:ln w="12700">
            <a:solidFill>
              <a:srgbClr val="DCE5E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TARGET SHOOTER  /  CSE 4102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98480" y="64922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16</a:t>
            </a:r>
            <a:endParaRPr lang="en-US" sz="1000" dirty="0"/>
          </a:p>
        </p:txBody>
      </p:sp>
      <p:pic>
        <p:nvPicPr>
          <p:cNvPr id="9" name="Image 0" descr="C:\Users\USER\OneDrive\My Codes\GitHub\Graphics-Project\objects\target\assembly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5776" y="1490472"/>
            <a:ext cx="2340864" cy="17556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" y="3337560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</a:t>
            </a:r>
            <a:endParaRPr lang="en-US" sz="1200" dirty="0"/>
          </a:p>
        </p:txBody>
      </p:sp>
      <p:pic>
        <p:nvPicPr>
          <p:cNvPr id="11" name="Image 1" descr="C:\Users\USER\OneDrive\My Codes\GitHub\Graphics-Project\objects\target\assembly-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490472"/>
            <a:ext cx="2340864" cy="17556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358640" y="3337560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stand</a:t>
            </a:r>
            <a:endParaRPr lang="en-US" sz="1200" dirty="0"/>
          </a:p>
        </p:txBody>
      </p:sp>
      <p:pic>
        <p:nvPicPr>
          <p:cNvPr id="13" name="Image 2" descr="C:\Users\USER\OneDrive\My Codes\GitHub\Graphics-Project\objects\target\assembly-1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3168" y="1490472"/>
            <a:ext cx="2340864" cy="175564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22336" y="3337560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8 plate slices</a:t>
            </a:r>
            <a:endParaRPr lang="en-US" sz="1200" dirty="0"/>
          </a:p>
        </p:txBody>
      </p:sp>
      <p:pic>
        <p:nvPicPr>
          <p:cNvPr id="15" name="Image 3" descr="C:\Users\USER\OneDrive\My Codes\GitHub\Graphics-Project\objects\target\assembly-2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5776" y="3685032"/>
            <a:ext cx="2340864" cy="175564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4944" y="5532120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16 plate slices</a:t>
            </a:r>
            <a:endParaRPr lang="en-US" sz="1200" dirty="0"/>
          </a:p>
        </p:txBody>
      </p:sp>
      <p:pic>
        <p:nvPicPr>
          <p:cNvPr id="17" name="Image 4" descr="C:\Users\USER\OneDrive\My Codes\GitHub\Graphics-Project\objects\target\assembly-3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3685032"/>
            <a:ext cx="2340864" cy="175564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358640" y="5532120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 parts — complete target</a:t>
            </a:r>
            <a:endParaRPr lang="en-US" sz="1200" dirty="0"/>
          </a:p>
        </p:txBody>
      </p:sp>
      <p:pic>
        <p:nvPicPr>
          <p:cNvPr id="19" name="Image 5" descr="C:\Users\USER\OneDrive\My Codes\GitHub\Graphics-Project\docs\images\release-target-fro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9082" y="3685032"/>
            <a:ext cx="2809037" cy="1755648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8022336" y="5532120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shader-generated rings</a:t>
            </a:r>
            <a:endParaRPr lang="en-US" sz="1200" dirty="0"/>
          </a:p>
        </p:txBody>
      </p:sp>
      <p:sp>
        <p:nvSpPr>
          <p:cNvPr id="21" name="Text 12"/>
          <p:cNvSpPr/>
          <p:nvPr/>
        </p:nvSpPr>
        <p:spPr>
          <a:xfrm>
            <a:off x="694944" y="5989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 plate slices:  width = 2√(r² − y²)  •  r = 0.8 m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411480"/>
            <a:ext cx="73152" cy="457200"/>
          </a:xfrm>
          <a:prstGeom prst="rect">
            <a:avLst/>
          </a:prstGeom>
          <a:solidFill>
            <a:srgbClr val="147D92"/>
          </a:solidFill>
          <a:ln w="12700">
            <a:solidFill>
              <a:srgbClr val="147D9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10896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 CONSTRUCTION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and bird: multipart construction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6428232"/>
            <a:ext cx="10881360" cy="10973"/>
          </a:xfrm>
          <a:prstGeom prst="rect">
            <a:avLst/>
          </a:prstGeom>
          <a:solidFill>
            <a:srgbClr val="DCE5EF"/>
          </a:solidFill>
          <a:ln w="12700">
            <a:solidFill>
              <a:srgbClr val="DCE5E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TARGET SHOOTER  /  CSE 4102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98480" y="64922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16</a:t>
            </a:r>
            <a:endParaRPr lang="en-US" sz="1000" dirty="0"/>
          </a:p>
        </p:txBody>
      </p:sp>
      <p:pic>
        <p:nvPicPr>
          <p:cNvPr id="9" name="Image 0" descr="C:\Users\USER\OneDrive\My Codes\GitHub\Graphics-Project\objects\human\assembly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4336" y="1508760"/>
            <a:ext cx="2523744" cy="18928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" y="349300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• first part</a:t>
            </a:r>
            <a:endParaRPr lang="en-US" sz="1200" dirty="0"/>
          </a:p>
        </p:txBody>
      </p:sp>
      <p:pic>
        <p:nvPicPr>
          <p:cNvPr id="11" name="Image 1" descr="C:\Users\USER\OneDrive\My Codes\GitHub\Graphics-Project\objects\human\assembly-1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508760"/>
            <a:ext cx="2523744" cy="18928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358640" y="349300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• 10 parts</a:t>
            </a:r>
            <a:endParaRPr lang="en-US" sz="1200" dirty="0"/>
          </a:p>
        </p:txBody>
      </p:sp>
      <p:pic>
        <p:nvPicPr>
          <p:cNvPr id="13" name="Image 2" descr="C:\Users\USER\OneDrive\My Codes\GitHub\Graphics-Project\objects\human\assembly-2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1728" y="1508760"/>
            <a:ext cx="2523744" cy="189280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22336" y="349300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• complete, 21 cuboids</a:t>
            </a:r>
            <a:endParaRPr lang="en-US" sz="1200" dirty="0"/>
          </a:p>
        </p:txBody>
      </p:sp>
      <p:pic>
        <p:nvPicPr>
          <p:cNvPr id="15" name="Image 3" descr="C:\Users\USER\OneDrive\My Codes\GitHub\Graphics-Project\objects\bird\assembly-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4336" y="3840480"/>
            <a:ext cx="2523744" cy="189280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4944" y="582472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Bird • first part</a:t>
            </a:r>
            <a:endParaRPr lang="en-US" sz="1200" dirty="0"/>
          </a:p>
        </p:txBody>
      </p:sp>
      <p:pic>
        <p:nvPicPr>
          <p:cNvPr id="17" name="Image 4" descr="C:\Users\USER\OneDrive\My Codes\GitHub\Graphics-Project\objects\bird\assembly-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3840480"/>
            <a:ext cx="2523744" cy="189280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358640" y="582472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Bird • 5 parts</a:t>
            </a:r>
            <a:endParaRPr lang="en-US" sz="1200" dirty="0"/>
          </a:p>
        </p:txBody>
      </p:sp>
      <p:pic>
        <p:nvPicPr>
          <p:cNvPr id="19" name="Image 5" descr="C:\Users\USER\OneDrive\My Codes\GitHub\Graphics-Project\objects\bird\assembly-1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1728" y="3840480"/>
            <a:ext cx="2523744" cy="1892808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8022336" y="582472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Bird • complete, 10 cuboids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411480"/>
            <a:ext cx="73152" cy="457200"/>
          </a:xfrm>
          <a:prstGeom prst="rect">
            <a:avLst/>
          </a:prstGeom>
          <a:solidFill>
            <a:srgbClr val="147D92"/>
          </a:solidFill>
          <a:ln w="12700">
            <a:solidFill>
              <a:srgbClr val="147D9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10896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LIGHTING AND SHADING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Lighting: day and night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6428232"/>
            <a:ext cx="10881360" cy="10973"/>
          </a:xfrm>
          <a:prstGeom prst="rect">
            <a:avLst/>
          </a:prstGeom>
          <a:solidFill>
            <a:srgbClr val="DCE5EF"/>
          </a:solidFill>
          <a:ln w="12700">
            <a:solidFill>
              <a:srgbClr val="DCE5E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TARGET SHOOTER  /  CSE 4102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98480" y="64922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16</a:t>
            </a:r>
            <a:endParaRPr lang="en-US" sz="1000" dirty="0"/>
          </a:p>
        </p:txBody>
      </p:sp>
      <p:pic>
        <p:nvPicPr>
          <p:cNvPr id="9" name="Image 0" descr="C:\Users\USER\OneDrive\My Codes\GitHub\Graphics-Project\lighting\day-2-mask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554480"/>
            <a:ext cx="5266944" cy="39502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" y="5596128"/>
            <a:ext cx="5294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— ambient fill and directional sunlight</a:t>
            </a:r>
            <a:endParaRPr lang="en-US" sz="1200" dirty="0"/>
          </a:p>
        </p:txBody>
      </p:sp>
      <p:pic>
        <p:nvPicPr>
          <p:cNvPr id="11" name="Image 1" descr="C:\Users\USER\OneDrive\My Codes\GitHub\Graphics-Project\lighting\night-2-mask-1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204" y="1554480"/>
            <a:ext cx="5266944" cy="39502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90488" y="5596128"/>
            <a:ext cx="5294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Night — ambient fill, 8 point lamps and 6 spotlights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94944" y="5943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scene and camera; different source intensities.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411480"/>
            <a:ext cx="73152" cy="457200"/>
          </a:xfrm>
          <a:prstGeom prst="rect">
            <a:avLst/>
          </a:prstGeom>
          <a:solidFill>
            <a:srgbClr val="147D92"/>
          </a:solidFill>
          <a:ln w="12700">
            <a:solidFill>
              <a:srgbClr val="147D9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10896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LIGHTING AND SHADING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Lighting: source-by-source comparison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6428232"/>
            <a:ext cx="10881360" cy="10973"/>
          </a:xfrm>
          <a:prstGeom prst="rect">
            <a:avLst/>
          </a:prstGeom>
          <a:solidFill>
            <a:srgbClr val="DCE5EF"/>
          </a:solidFill>
          <a:ln w="12700">
            <a:solidFill>
              <a:srgbClr val="DCE5E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TARGET SHOOTER  /  CSE 4102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98480" y="64922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16</a:t>
            </a:r>
            <a:endParaRPr lang="en-US" sz="1000" dirty="0"/>
          </a:p>
        </p:txBody>
      </p:sp>
      <p:pic>
        <p:nvPicPr>
          <p:cNvPr id="9" name="Image 0" descr="C:\Users\USER\OneDrive\My Codes\GitHub\Graphics-Project\lighting\day-2-mask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5020" y="1481328"/>
            <a:ext cx="2554224" cy="19156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" y="3488436"/>
            <a:ext cx="5294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Ambient — constant background fill</a:t>
            </a:r>
            <a:endParaRPr lang="en-US" sz="1200" dirty="0"/>
          </a:p>
        </p:txBody>
      </p:sp>
      <p:pic>
        <p:nvPicPr>
          <p:cNvPr id="11" name="Image 1" descr="C:\Users\USER\OneDrive\My Codes\GitHub\Graphics-Project\lighting\day-2-mask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564" y="1481328"/>
            <a:ext cx="2554224" cy="19156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90488" y="3488436"/>
            <a:ext cx="5294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Directional — orientation-dependent sunlight</a:t>
            </a:r>
            <a:endParaRPr lang="en-US" sz="1200" dirty="0"/>
          </a:p>
        </p:txBody>
      </p:sp>
      <p:pic>
        <p:nvPicPr>
          <p:cNvPr id="13" name="Image 2" descr="C:\Users\USER\OneDrive\My Codes\GitHub\Graphics-Project\lighting\night-2-mask-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5020" y="3835908"/>
            <a:ext cx="2554224" cy="19156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4944" y="5843016"/>
            <a:ext cx="5294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lamps — local light with distance falloff</a:t>
            </a:r>
            <a:endParaRPr lang="en-US" sz="1200" dirty="0"/>
          </a:p>
        </p:txBody>
      </p:sp>
      <p:pic>
        <p:nvPicPr>
          <p:cNvPr id="15" name="Image 3" descr="C:\Users\USER\OneDrive\My Codes\GitHub\Graphics-Project\lighting\night-2-mask-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564" y="3835908"/>
            <a:ext cx="2554224" cy="19156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190488" y="5843016"/>
            <a:ext cx="5294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Spotlights — focused beams with soft cone edges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411480"/>
            <a:ext cx="73152" cy="457200"/>
          </a:xfrm>
          <a:prstGeom prst="rect">
            <a:avLst/>
          </a:prstGeom>
          <a:solidFill>
            <a:srgbClr val="147D92"/>
          </a:solidFill>
          <a:ln w="12700">
            <a:solidFill>
              <a:srgbClr val="147D9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10896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LIGHTING AND SHADING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Shading: flat, Gouraud and Phong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6428232"/>
            <a:ext cx="10881360" cy="10973"/>
          </a:xfrm>
          <a:prstGeom prst="rect">
            <a:avLst/>
          </a:prstGeom>
          <a:solidFill>
            <a:srgbClr val="DCE5EF"/>
          </a:solidFill>
          <a:ln w="12700">
            <a:solidFill>
              <a:srgbClr val="DCE5E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TARGET SHOOTER  /  CSE 4102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98480" y="64922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/ 16</a:t>
            </a:r>
            <a:endParaRPr lang="en-US" sz="1000" dirty="0"/>
          </a:p>
        </p:txBody>
      </p:sp>
      <p:pic>
        <p:nvPicPr>
          <p:cNvPr id="9" name="Image 0" descr="C:\Users\USER\OneDrive\My Codes\GitHub\Graphics-Project\lighting\night-0-mask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956816"/>
            <a:ext cx="3462528" cy="2596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" y="486460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Flat — one lighting value per triangle</a:t>
            </a:r>
            <a:endParaRPr lang="en-US" sz="1200" dirty="0"/>
          </a:p>
        </p:txBody>
      </p:sp>
      <p:pic>
        <p:nvPicPr>
          <p:cNvPr id="11" name="Image 1" descr="C:\Users\USER\OneDrive\My Codes\GitHub\Graphics-Project\lighting\night-1-mask-1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8640" y="1956816"/>
            <a:ext cx="3462528" cy="259689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358640" y="486460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Gouraud — interpolated vertex lighting</a:t>
            </a:r>
            <a:endParaRPr lang="en-US" sz="1200" dirty="0"/>
          </a:p>
        </p:txBody>
      </p:sp>
      <p:pic>
        <p:nvPicPr>
          <p:cNvPr id="13" name="Image 2" descr="C:\Users\USER\OneDrive\My Codes\GitHub\Graphics-Project\lighting\night-2-mask-1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336" y="1956816"/>
            <a:ext cx="3462528" cy="259689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22336" y="486460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Phong — lighting evaluated per fragment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" y="5212080"/>
          <a:ext cx="10789920" cy="914400"/>
        </p:xfrm>
        <a:graphic>
          <a:graphicData uri="http://schemas.openxmlformats.org/drawingml/2006/table">
            <a:tbl>
              <a:tblPr/>
              <a:tblGrid>
                <a:gridCol w="3593592"/>
                <a:gridCol w="3593592"/>
                <a:gridCol w="3602736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Flat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7000" marR="127000" marT="127000" marB="1270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Gouraud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7000" marR="127000" marT="127000" marB="1270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Phong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7000" marR="127000" marT="127000" marB="1270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Constant triangle regions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7000" marR="127000" marT="127000" marB="1270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Smooth vertex-to-vertex variation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7000" marR="127000" marT="127000" marB="1270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031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Detailed local light and highlights</a:t>
                      </a:r>
                      <a:endParaRPr lang="en-US" sz="17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27000" marR="127000" marT="127000" marB="127000">
                    <a:lnL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CE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411480"/>
            <a:ext cx="73152" cy="457200"/>
          </a:xfrm>
          <a:prstGeom prst="rect">
            <a:avLst/>
          </a:prstGeom>
          <a:solidFill>
            <a:srgbClr val="147D92"/>
          </a:solidFill>
          <a:ln w="12700">
            <a:solidFill>
              <a:srgbClr val="147D9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10896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LIGHTING AND SHADING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Shading: close-up comparison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6428232"/>
            <a:ext cx="10881360" cy="10973"/>
          </a:xfrm>
          <a:prstGeom prst="rect">
            <a:avLst/>
          </a:prstGeom>
          <a:solidFill>
            <a:srgbClr val="DCE5EF"/>
          </a:solidFill>
          <a:ln w="12700">
            <a:solidFill>
              <a:srgbClr val="DCE5E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TARGET SHOOTER  /  CSE 4102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98480" y="64922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/ 16</a:t>
            </a:r>
            <a:endParaRPr lang="en-US" sz="1000" dirty="0"/>
          </a:p>
        </p:txBody>
      </p:sp>
      <p:pic>
        <p:nvPicPr>
          <p:cNvPr id="9" name="Image 0" descr="C:\Users\USER\OneDrive\My Codes\GitHub\Graphics-Project\lighting\night-0-mask-15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2071116"/>
            <a:ext cx="3462528" cy="2596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" y="509320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Flat — triangle boundaries are visible</a:t>
            </a:r>
            <a:endParaRPr lang="en-US" sz="1200" dirty="0"/>
          </a:p>
        </p:txBody>
      </p:sp>
      <p:pic>
        <p:nvPicPr>
          <p:cNvPr id="11" name="Image 1" descr="C:\Users\USER\OneDrive\My Codes\GitHub\Graphics-Project\lighting\night-1-mask-15-clo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8640" y="2071116"/>
            <a:ext cx="3462528" cy="259689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358640" y="509320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Gouraud — light blends between vertices</a:t>
            </a:r>
            <a:endParaRPr lang="en-US" sz="1200" dirty="0"/>
          </a:p>
        </p:txBody>
      </p:sp>
      <p:pic>
        <p:nvPicPr>
          <p:cNvPr id="13" name="Image 2" descr="C:\Users\USER\OneDrive\My Codes\GitHub\Graphics-Project\lighting\night-2-mask-15-clo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336" y="2071116"/>
            <a:ext cx="3462528" cy="259689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22336" y="5093208"/>
            <a:ext cx="3462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Phong — light responds at each fragment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694944" y="55321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camera, geometry and lights; only the shading method changes.</a:t>
            </a:r>
            <a:endParaRPr lang="en-US" sz="1800" dirty="0"/>
          </a:p>
        </p:txBody>
      </p:sp>
      <p:sp>
        <p:nvSpPr>
          <p:cNvPr id="16" name="Shape 10"/>
          <p:cNvSpPr/>
          <p:nvPr/>
        </p:nvSpPr>
        <p:spPr>
          <a:xfrm>
            <a:off x="868680" y="5989320"/>
            <a:ext cx="10424160" cy="347472"/>
          </a:xfrm>
          <a:prstGeom prst="rect">
            <a:avLst/>
          </a:prstGeom>
          <a:solidFill>
            <a:srgbClr val="E8F2F5"/>
          </a:solidFill>
          <a:ln w="12700">
            <a:solidFill>
              <a:srgbClr val="E8F2F5">
                <a:alpha val="0"/>
              </a:srgbClr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1014984" y="6071616"/>
            <a:ext cx="10131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7D9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Diffuse ∝ max(N · L, 0)     |     Specular ∝ max(R · V, 0)ⁿ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411480"/>
            <a:ext cx="73152" cy="457200"/>
          </a:xfrm>
          <a:prstGeom prst="rect">
            <a:avLst/>
          </a:prstGeom>
          <a:solidFill>
            <a:srgbClr val="147D92"/>
          </a:solidFill>
          <a:ln w="12700">
            <a:solidFill>
              <a:srgbClr val="147D9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10896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6428232"/>
            <a:ext cx="10881360" cy="10973"/>
          </a:xfrm>
          <a:prstGeom prst="rect">
            <a:avLst/>
          </a:prstGeom>
          <a:solidFill>
            <a:srgbClr val="DCE5EF"/>
          </a:solidFill>
          <a:ln w="12700">
            <a:solidFill>
              <a:srgbClr val="DCE5E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TARGET SHOOTER  /  CSE 4102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98480" y="64922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/ 16</a:t>
            </a:r>
            <a:endParaRPr lang="en-US" sz="1000" dirty="0"/>
          </a:p>
        </p:txBody>
      </p:sp>
      <p:pic>
        <p:nvPicPr>
          <p:cNvPr id="9" name="Image 0" descr="C:\Users\USER\OneDrive\My Codes\GitHub\Graphics-Project\docs\images\release-are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08760"/>
            <a:ext cx="7242048" cy="45262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68512" y="2103120"/>
            <a:ext cx="2788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reusable cube.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3D assemblies.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Seven progressive levels.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shading methods.</a:t>
            </a:r>
            <a:endParaRPr lang="en-US" sz="2300" dirty="0"/>
          </a:p>
        </p:txBody>
      </p:sp>
      <p:sp>
        <p:nvSpPr>
          <p:cNvPr id="11" name="Text 7"/>
          <p:cNvSpPr/>
          <p:nvPr/>
        </p:nvSpPr>
        <p:spPr>
          <a:xfrm>
            <a:off x="8668512" y="493776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Modelling, animation and lighting combined in one interactive project.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411480"/>
            <a:ext cx="73152" cy="457200"/>
          </a:xfrm>
          <a:prstGeom prst="rect">
            <a:avLst/>
          </a:prstGeom>
          <a:solidFill>
            <a:srgbClr val="147D92"/>
          </a:solidFill>
          <a:ln w="12700">
            <a:solidFill>
              <a:srgbClr val="147D9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10896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TARGET SHOOTER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722376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31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6428232"/>
            <a:ext cx="10881360" cy="10973"/>
          </a:xfrm>
          <a:prstGeom prst="rect">
            <a:avLst/>
          </a:prstGeom>
          <a:solidFill>
            <a:srgbClr val="DCE5EF"/>
          </a:solidFill>
          <a:ln w="12700">
            <a:solidFill>
              <a:srgbClr val="DCE5E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TARGET SHOOTER  /  CSE 4102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98480" y="64922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1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/ 16</a:t>
            </a:r>
            <a:endParaRPr lang="en-US" sz="1000" dirty="0"/>
          </a:p>
        </p:txBody>
      </p:sp>
      <p:pic>
        <p:nvPicPr>
          <p:cNvPr id="8" name="Image 0" descr="C:\Users\USER\OneDrive\My Codes\GitHub\Graphics-Project\docs\images\release-night-are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8608" y="1444752"/>
            <a:ext cx="7022592" cy="4389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4944" y="597103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7D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Kazi Rifat Al Muin  •  2107042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KUET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3D Target Shooter</dc:title>
  <dc:subject>Computer Graphics project report presentation</dc:subject>
  <dc:creator>Kazi Rifat Al Muin</dc:creator>
  <cp:lastModifiedBy>Kazi Rifat Al Muin</cp:lastModifiedBy>
  <cp:revision>1</cp:revision>
  <dcterms:created xsi:type="dcterms:W3CDTF">2026-10-12T07:05:14Z</dcterms:created>
  <dcterms:modified xsi:type="dcterms:W3CDTF">2026-10-12T07:05:14Z</dcterms:modified>
</cp:coreProperties>
</file>